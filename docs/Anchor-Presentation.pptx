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AC84CC"/>
              </a:gs>
              <a:gs pos="45000">
                <a:srgbClr val="DC8CC5"/>
              </a:gs>
              <a:gs pos="75000">
                <a:srgbClr val="FCAD96"/>
              </a:gs>
              <a:gs pos="100000">
                <a:srgbClr val="F5CAA2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18872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880360"/>
            <a:ext cx="103601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libri"/>
              </a:rPr>
              <a:t>The Memory Layer That Actually Remembers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Product Walkthrough  •  Feature Overview  •  Comparison with Memorae.ai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33832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2D2A3D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9283D9"/>
                </a:solidFill>
                <a:latin typeface="Calibri"/>
              </a:rPr>
              <a:t>•  </a:t>
            </a:r>
            <a:r>
              <a:rPr sz="2000" b="0">
                <a:solidFill>
                  <a:srgbClr val="5A546E"/>
                </a:solidFill>
                <a:latin typeface="Calibri"/>
              </a:rPr>
              <a:t>What is Anchor, and why it exists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9283D9"/>
                </a:solidFill>
                <a:latin typeface="Calibri"/>
              </a:rPr>
              <a:t>•  </a:t>
            </a:r>
            <a:r>
              <a:rPr sz="2000" b="0">
                <a:solidFill>
                  <a:srgbClr val="5A546E"/>
                </a:solidFill>
                <a:latin typeface="Calibri"/>
              </a:rPr>
              <a:t>Complete screen-by-screen walkthrough (13 screens)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9283D9"/>
                </a:solidFill>
                <a:latin typeface="Calibri"/>
              </a:rPr>
              <a:t>•  </a:t>
            </a:r>
            <a:r>
              <a:rPr sz="2000" b="0">
                <a:solidFill>
                  <a:srgbClr val="5A546E"/>
                </a:solidFill>
                <a:latin typeface="Calibri"/>
              </a:rPr>
              <a:t>Feature list: capture, memory, tasks, reminders, lists, calendar, briefings, chat, admin, billing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9283D9"/>
                </a:solidFill>
                <a:latin typeface="Calibri"/>
              </a:rPr>
              <a:t>•  </a:t>
            </a:r>
            <a:r>
              <a:rPr sz="2000" b="0">
                <a:solidFill>
                  <a:srgbClr val="5A546E"/>
                </a:solidFill>
                <a:latin typeface="Calibri"/>
              </a:rPr>
              <a:t>Head-to-head comparison with Memorae.ai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9283D9"/>
                </a:solidFill>
                <a:latin typeface="Calibri"/>
              </a:rPr>
              <a:t>•  </a:t>
            </a:r>
            <a:r>
              <a:rPr sz="2000" b="0">
                <a:solidFill>
                  <a:srgbClr val="5A546E"/>
                </a:solidFill>
                <a:latin typeface="Calibri"/>
              </a:rPr>
              <a:t>What's next on the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2 /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338328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2D2A3D"/>
                </a:solidFill>
                <a:latin typeface="Calibri"/>
              </a:rPr>
              <a:t>What is Anchor?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5A546E"/>
                </a:solidFill>
                <a:latin typeface="Calibri"/>
              </a:rPr>
              <a:t>Anchor is a memory-layer SaaS that sits above every app a person already uses. You text it, email it, or talk to it the way you'd message a friend — and it turns that into reminders, tasks, lists, and searchable memory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283D9"/>
                </a:solidFill>
                <a:latin typeface="Calibri"/>
              </a:rPr>
              <a:t>Capture anywhere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546E"/>
                </a:solidFill>
                <a:latin typeface="Calibri"/>
              </a:rPr>
              <a:t>WhatsApp, Telegram, email, voice notes, photos, and the web app itself.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6324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24612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283D9"/>
                </a:solidFill>
                <a:latin typeface="Calibri"/>
              </a:rPr>
              <a:t>Understand, don't just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9476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546E"/>
                </a:solidFill>
                <a:latin typeface="Calibri"/>
              </a:rPr>
              <a:t>AI extracts tasks, reminders, and tags from raw messages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283D9"/>
                </a:solidFill>
                <a:latin typeface="Calibri"/>
              </a:rPr>
              <a:t>Remember and remind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546E"/>
                </a:solidFill>
                <a:latin typeface="Calibri"/>
              </a:rPr>
              <a:t>Recurring reminders actually fire back to you on WhatsApp/Telegram, on schedule.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306324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24612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283D9"/>
                </a:solidFill>
                <a:latin typeface="Calibri"/>
              </a:rPr>
              <a:t>Built as a real 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79476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546E"/>
                </a:solidFill>
                <a:latin typeface="Calibri"/>
              </a:rPr>
              <a:t>Role-based admin panel, 3 paid plans, and Stripe-ready billing from day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3 /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9283D9"/>
              </a:gs>
              <a:gs pos="50000">
                <a:srgbClr val="DC8CC5"/>
              </a:gs>
              <a:gs pos="100000">
                <a:srgbClr val="FCAD96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82880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Screen-by-Screen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Every screen in Anchor, captured live from the running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1. Public 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1 of 13</a:t>
            </a:r>
          </a:p>
        </p:txBody>
      </p:sp>
      <p:pic>
        <p:nvPicPr>
          <p:cNvPr id="6" name="Picture 5" descr="01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1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Public Homepage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The marketing front door — dark, starry hero in Anchor's own pastel gradient.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Hero messaging:  </a:t>
            </a:r>
            <a:r>
              <a:rPr sz="1600" b="0">
                <a:solidFill>
                  <a:srgbClr val="5A546E"/>
                </a:solidFill>
                <a:latin typeface="Calibri"/>
              </a:rPr>
              <a:t>“You shouldn't have to remember it all” — states the core pain point in one line.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Brand mascot:  </a:t>
            </a:r>
            <a:r>
              <a:rPr sz="1600" b="0">
                <a:solidFill>
                  <a:srgbClr val="5A546E"/>
                </a:solidFill>
                <a:latin typeface="Calibri"/>
              </a:rPr>
              <a:t>The Anchor cat appears in the nav, hero, and CTA sections, mirroring how Memorae uses its own mascot throughout its site.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Channel row:  </a:t>
            </a:r>
            <a:r>
              <a:rPr sz="1600" b="0">
                <a:solidFill>
                  <a:srgbClr val="5A546E"/>
                </a:solidFill>
                <a:latin typeface="Calibri"/>
              </a:rPr>
              <a:t>Shows WhatsApp, Telegram, Email, and Voice icons — proof of multi-channel capture before the user even signs up.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Feature grid:  </a:t>
            </a:r>
            <a:r>
              <a:rPr sz="1600" b="0">
                <a:solidFill>
                  <a:srgbClr val="5A546E"/>
                </a:solidFill>
                <a:latin typeface="Calibri"/>
              </a:rPr>
              <a:t>Memories, Reminders, Lists, Calendar, Daily Briefing, and Chat are previewed below the fold with real copy, not placeholders.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Call to action:  </a:t>
            </a:r>
            <a:r>
              <a:rPr sz="1600" b="0">
                <a:solidFill>
                  <a:srgbClr val="5A546E"/>
                </a:solidFill>
                <a:latin typeface="Calibri"/>
              </a:rPr>
              <a:t>“Get started” and “Meet Anchor” both route straight into the real login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2. Login / Sign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2 of 13</a:t>
            </a:r>
          </a:p>
        </p:txBody>
      </p:sp>
      <p:pic>
        <p:nvPicPr>
          <p:cNvPr id="6" name="Picture 5" descr="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2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Login / Sign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Real authentication, plus zero-friction demo access since no email system is wired up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Real auth:  </a:t>
            </a:r>
            <a:r>
              <a:rPr sz="1600" b="0">
                <a:solidFill>
                  <a:srgbClr val="5A546E"/>
                </a:solidFill>
                <a:latin typeface="Calibri"/>
              </a:rPr>
              <a:t>Email + password login and signup against a live NestJS API, hashed with argon2id.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Demo accounts:  </a:t>
            </a:r>
            <a:r>
              <a:rPr sz="1600" b="0">
                <a:solidFill>
                  <a:srgbClr val="5A546E"/>
                </a:solidFill>
                <a:latin typeface="Calibri"/>
              </a:rPr>
              <a:t>Four one-click demo logins — Admin, Starter, Pro, and Ultimate — so anyone can explore every plan tier instantly.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Role-aware redirect:  </a:t>
            </a:r>
            <a:r>
              <a:rPr sz="1600" b="0">
                <a:solidFill>
                  <a:srgbClr val="5A546E"/>
                </a:solidFill>
                <a:latin typeface="Calibri"/>
              </a:rPr>
              <a:t>Logging in as Admin routes to the Admin panel; every other role lands on the Dashboard.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Password shown in-page:  </a:t>
            </a:r>
            <a:r>
              <a:rPr sz="1600" b="0">
                <a:solidFill>
                  <a:srgbClr val="5A546E"/>
                </a:solidFill>
                <a:latin typeface="Calibri"/>
              </a:rPr>
              <a:t>Demo@1234 is displayed directly on screen — there's nothing to look up separately.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3.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3 of 13</a:t>
            </a:r>
          </a:p>
        </p:txBody>
      </p:sp>
      <p:pic>
        <p:nvPicPr>
          <p:cNvPr id="6" name="Picture 5" descr="0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3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The daily home screen — an AI-written briefing plus a snapshot of everything 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Daily briefing card:  </a:t>
            </a:r>
            <a:r>
              <a:rPr sz="1600" b="0">
                <a:solidFill>
                  <a:srgbClr val="5A546E"/>
                </a:solidFill>
                <a:latin typeface="Calibri"/>
              </a:rPr>
              <a:t>Auto-generated summary of what's due, overdue, and on the calendar today — the same message that gets pushed to WhatsApp/Telegram every morning.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Live stats:  </a:t>
            </a:r>
            <a:r>
              <a:rPr sz="1600" b="0">
                <a:solidFill>
                  <a:srgbClr val="5A546E"/>
                </a:solidFill>
                <a:latin typeface="Calibri"/>
              </a:rPr>
              <a:t>Total memories, active tasks, upcoming events, and active channels, pulled from the real database.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Recent memories feed:  </a:t>
            </a:r>
            <a:r>
              <a:rPr sz="1600" b="0">
                <a:solidFill>
                  <a:srgbClr val="5A546E"/>
                </a:solidFill>
                <a:latin typeface="Calibri"/>
              </a:rPr>
              <a:t>The last things captured across every channel, with source icon and relative timestamp.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Quick actions:  </a:t>
            </a:r>
            <a:r>
              <a:rPr sz="1600" b="0">
                <a:solidFill>
                  <a:srgbClr val="5A546E"/>
                </a:solidFill>
                <a:latin typeface="Calibri"/>
              </a:rPr>
              <a:t>One-click shortcuts into creating a task or jumping to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4. Chat with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4 of 13</a:t>
            </a:r>
          </a:p>
        </p:txBody>
      </p:sp>
      <p:pic>
        <p:nvPicPr>
          <p:cNvPr id="6" name="Picture 5" descr="04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4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Chat with 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A conversational assistant that answers using the user's own captured memory — not a generic chatbot.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Context-aware:  </a:t>
            </a:r>
            <a:r>
              <a:rPr sz="1600" b="0">
                <a:solidFill>
                  <a:srgbClr val="5A546E"/>
                </a:solidFill>
                <a:latin typeface="Calibri"/>
              </a:rPr>
              <a:t>Before replying, the backend pulls relevant past memories and today's due tasks and feeds them to the AI as context.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Own mascot as avatar:  </a:t>
            </a:r>
            <a:r>
              <a:rPr sz="1600" b="0">
                <a:solidFill>
                  <a:srgbClr val="5A546E"/>
                </a:solidFill>
                <a:latin typeface="Calibri"/>
              </a:rPr>
              <a:t>The cat avatar appears next to every assistant message, matching how Memorae anchors its identity to its own mascot.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Real backend:  </a:t>
            </a:r>
            <a:r>
              <a:rPr sz="1600" b="0">
                <a:solidFill>
                  <a:srgbClr val="5A546E"/>
                </a:solidFill>
                <a:latin typeface="Calibri"/>
              </a:rPr>
              <a:t>Routes through apps/api → apps/ai → OpenAI chat completions — not a scripted demo.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New capability:  </a:t>
            </a:r>
            <a:r>
              <a:rPr sz="1600" b="0">
                <a:solidFill>
                  <a:srgbClr val="5A546E"/>
                </a:solidFill>
                <a:latin typeface="Calibri"/>
              </a:rPr>
              <a:t>This entire feature did not exist before this build; it was added specifically to reach feature parity with Memorae's chat assistant.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5. Memories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5 of 13</a:t>
            </a:r>
          </a:p>
        </p:txBody>
      </p:sp>
      <p:pic>
        <p:nvPicPr>
          <p:cNvPr id="6" name="Picture 5" descr="05-mem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5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Memories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The unified capture inbox — every note, message, and voice memo, searchable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Multi-source:  </a:t>
            </a:r>
            <a:r>
              <a:rPr sz="1600" b="0">
                <a:solidFill>
                  <a:srgbClr val="5A546E"/>
                </a:solidFill>
                <a:latin typeface="Calibri"/>
              </a:rPr>
              <a:t>Each entry shows exactly where it came from — WhatsApp, Email, Voice, or the native app.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Auto-tagging:  </a:t>
            </a:r>
            <a:r>
              <a:rPr sz="1600" b="0">
                <a:solidFill>
                  <a:srgbClr val="5A546E"/>
                </a:solidFill>
                <a:latin typeface="Calibri"/>
              </a:rPr>
              <a:t>AI assigns descriptive tags (e.g. “recipe”, “deadline”, “appointment”) at capture time.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Type + text filter:  </a:t>
            </a:r>
            <a:r>
              <a:rPr sz="1600" b="0">
                <a:solidFill>
                  <a:srgbClr val="5A546E"/>
                </a:solidFill>
                <a:latin typeface="Calibri"/>
              </a:rPr>
              <a:t>Search box and a type dropdown narrow results without leaving the page.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Hybrid search under the hood:  </a:t>
            </a:r>
            <a:r>
              <a:rPr sz="1600" b="0">
                <a:solidFill>
                  <a:srgbClr val="5A546E"/>
                </a:solidFill>
                <a:latin typeface="Calibri"/>
              </a:rPr>
              <a:t>Combines vector similarity and PostgreSQL full-text search, merged and ranked server-side.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6.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6 of 13</a:t>
            </a:r>
          </a:p>
        </p:txBody>
      </p:sp>
      <p:pic>
        <p:nvPicPr>
          <p:cNvPr id="6" name="Picture 5" descr="06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6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A Kanban board that fills itself — tasks are often created automatically from captured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Three columns:  </a:t>
            </a:r>
            <a:r>
              <a:rPr sz="1600" b="0">
                <a:solidFill>
                  <a:srgbClr val="5A546E"/>
                </a:solidFill>
                <a:latin typeface="Calibri"/>
              </a:rPr>
              <a:t>Pending, In Progress, and Completed, with live counts per column.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Priority badges:  </a:t>
            </a:r>
            <a:r>
              <a:rPr sz="1600" b="0">
                <a:solidFill>
                  <a:srgbClr val="5A546E"/>
                </a:solidFill>
                <a:latin typeface="Calibri"/>
              </a:rPr>
              <a:t>URGENT / HIGH / MEDIUM shown as color-coded chips pulled straight from the data.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AI-authored tasks:  </a:t>
            </a:r>
            <a:r>
              <a:rPr sz="1600" b="0">
                <a:solidFill>
                  <a:srgbClr val="5A546E"/>
                </a:solidFill>
                <a:latin typeface="Calibri"/>
              </a:rPr>
              <a:t>Messages containing phrases like “need to” or “deadline” are parsed by AI into a structured task automatically.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Inline status changes:  </a:t>
            </a:r>
            <a:r>
              <a:rPr sz="1600" b="0">
                <a:solidFill>
                  <a:srgbClr val="5A546E"/>
                </a:solidFill>
                <a:latin typeface="Calibri"/>
              </a:rPr>
              <a:t>Drag-free status dropdown and delete, no page reload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7.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7 of 13</a:t>
            </a:r>
          </a:p>
        </p:txBody>
      </p:sp>
      <p:pic>
        <p:nvPicPr>
          <p:cNvPr id="6" name="Picture 5" descr="07-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7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Shopping, to-do, and idea lists — built to match Memorae's list feature, and built from scratch this 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List types:  </a:t>
            </a:r>
            <a:r>
              <a:rPr sz="1600" b="0">
                <a:solidFill>
                  <a:srgbClr val="5A546E"/>
                </a:solidFill>
                <a:latin typeface="Calibri"/>
              </a:rPr>
              <a:t>TODO, SHOPPING, IDEAS, and CUSTOM, shown as a colored badge on each list.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Checkable items:  </a:t>
            </a:r>
            <a:r>
              <a:rPr sz="1600" b="0">
                <a:solidFill>
                  <a:srgbClr val="5A546E"/>
                </a:solidFill>
                <a:latin typeface="Calibri"/>
              </a:rPr>
              <a:t>Tick items off inline; completed items get a strikethrough.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New this build:  </a:t>
            </a:r>
            <a:r>
              <a:rPr sz="1600" b="0">
                <a:solidFill>
                  <a:srgbClr val="5A546E"/>
                </a:solidFill>
                <a:latin typeface="Calibri"/>
              </a:rPr>
              <a:t>Lists did not exist in Anchor before — the whole model, API, and UI were added specifically to close the gap with Memorae.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Fast add:  </a:t>
            </a:r>
            <a:r>
              <a:rPr sz="1600" b="0">
                <a:solidFill>
                  <a:srgbClr val="5A546E"/>
                </a:solidFill>
                <a:latin typeface="Calibri"/>
              </a:rPr>
              <a:t>Add an item and press Enter — no modal, no page transition.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8. Reminders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8 of 13</a:t>
            </a:r>
          </a:p>
        </p:txBody>
      </p:sp>
      <p:pic>
        <p:nvPicPr>
          <p:cNvPr id="6" name="Picture 5" descr="08-remi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8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Reminders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Reminders that actually fire — delivered back to WhatsApp or Telegram on schedule, not just stored.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Real scheduling:  </a:t>
            </a:r>
            <a:r>
              <a:rPr sz="1600" b="0">
                <a:solidFill>
                  <a:srgbClr val="5A546E"/>
                </a:solidFill>
                <a:latin typeface="Calibri"/>
              </a:rPr>
              <a:t>One-off or recurring (daily / weekly / monthly), created from a simple inline form.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Actual delivery:  </a:t>
            </a:r>
            <a:r>
              <a:rPr sz="1600" b="0">
                <a:solidFill>
                  <a:srgbClr val="5A546E"/>
                </a:solidFill>
                <a:latin typeface="Calibri"/>
              </a:rPr>
              <a:t>A server-side cron job checks every minute for due reminders and sends them over the user's connected channels.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Natural-language capture:  </a:t>
            </a:r>
            <a:r>
              <a:rPr sz="1600" b="0">
                <a:solidFill>
                  <a:srgbClr val="5A546E"/>
                </a:solidFill>
                <a:latin typeface="Calibri"/>
              </a:rPr>
              <a:t>Texting “remind me to call mom tomorrow at 5pm” creates a real, scheduled Reminder — not just a task.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Upcoming vs completed:  </a:t>
            </a:r>
            <a:r>
              <a:rPr sz="1600" b="0">
                <a:solidFill>
                  <a:srgbClr val="5A546E"/>
                </a:solidFill>
                <a:latin typeface="Calibri"/>
              </a:rPr>
              <a:t>Reminders are grouped so the list stays readable as it grows.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9.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9 of 13</a:t>
            </a:r>
          </a:p>
        </p:txBody>
      </p:sp>
      <p:pic>
        <p:nvPicPr>
          <p:cNvPr id="6" name="Picture 5" descr="09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9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Calendar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A month view unifying events from every connected calendar.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Google &amp; Outlook sync:  </a:t>
            </a:r>
            <a:r>
              <a:rPr sz="1600" b="0">
                <a:solidFill>
                  <a:srgbClr val="5A546E"/>
                </a:solidFill>
                <a:latin typeface="Calibri"/>
              </a:rPr>
              <a:t>Calendar connections pull events into one unified month grid.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Click-through detail:  </a:t>
            </a:r>
            <a:r>
              <a:rPr sz="1600" b="0">
                <a:solidFill>
                  <a:srgbClr val="5A546E"/>
                </a:solidFill>
                <a:latin typeface="Calibri"/>
              </a:rPr>
              <a:t>Selecting a day reveals its full event list below the grid.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Color-coded by provider:  </a:t>
            </a:r>
            <a:r>
              <a:rPr sz="1600" b="0">
                <a:solidFill>
                  <a:srgbClr val="5A546E"/>
                </a:solidFill>
                <a:latin typeface="Calibri"/>
              </a:rPr>
              <a:t>Google and Outlook events are visually distinguished at a glance.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Gap vs. Memorae:  </a:t>
            </a:r>
            <a:r>
              <a:rPr sz="1600" b="0">
                <a:solidFill>
                  <a:srgbClr val="5A546E"/>
                </a:solidFill>
                <a:latin typeface="Calibri"/>
              </a:rPr>
              <a:t>Apple/iCloud calendar sync is not yet supported — called out honestly rather than hidden.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10.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10 of 13</a:t>
            </a:r>
          </a:p>
        </p:txBody>
      </p:sp>
      <p:pic>
        <p:nvPicPr>
          <p:cNvPr id="6" name="Picture 5" descr="10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10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One search box across everything ever captured — phrased as a question, not just keywords.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Natural query box:  </a:t>
            </a:r>
            <a:r>
              <a:rPr sz="1600" b="0">
                <a:solidFill>
                  <a:srgbClr val="5A546E"/>
                </a:solidFill>
                <a:latin typeface="Calibri"/>
              </a:rPr>
              <a:t>“Ask about anything you've captured” — designed for conversational queries, not exact-match keywords.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Hybrid ranking:  </a:t>
            </a:r>
            <a:r>
              <a:rPr sz="1600" b="0">
                <a:solidFill>
                  <a:srgbClr val="5A546E"/>
                </a:solidFill>
                <a:latin typeface="Calibri"/>
              </a:rPr>
              <a:t>Same vector + full-text merge used by Memories, exposed here as a dedicated destination.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Source-aware results:  </a:t>
            </a:r>
            <a:r>
              <a:rPr sz="1600" b="0">
                <a:solidFill>
                  <a:srgbClr val="5A546E"/>
                </a:solidFill>
                <a:latin typeface="Calibri"/>
              </a:rPr>
              <a:t>Each result shows its origin channel and how long ago it was captured.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11.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11 of 13</a:t>
            </a:r>
          </a:p>
        </p:txBody>
      </p:sp>
      <p:pic>
        <p:nvPicPr>
          <p:cNvPr id="6" name="Picture 5" descr="11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11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Three paid tiers — Starter, Pro, and Ultimate — with a real (demo-mode) checkout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No free tier:  </a:t>
            </a:r>
            <a:r>
              <a:rPr sz="1600" b="0">
                <a:solidFill>
                  <a:srgbClr val="5A546E"/>
                </a:solidFill>
                <a:latin typeface="Calibri"/>
              </a:rPr>
              <a:t>Starter $6/mo, Pro $15/mo, Ultimate $29/mo — by explicit design, all paid from day one.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Real Stripe plumbing:  </a:t>
            </a:r>
            <a:r>
              <a:rPr sz="1600" b="0">
                <a:solidFill>
                  <a:srgbClr val="5A546E"/>
                </a:solidFill>
                <a:latin typeface="Calibri"/>
              </a:rPr>
              <a:t>Built on the actual Stripe SDK; runs in demo mode (instant activation) until a merchant account is connected — no rework needed later.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Current-plan awareness:  </a:t>
            </a:r>
            <a:r>
              <a:rPr sz="1600" b="0">
                <a:solidFill>
                  <a:srgbClr val="5A546E"/>
                </a:solidFill>
                <a:latin typeface="Calibri"/>
              </a:rPr>
              <a:t>The page knows which plan the logged-in user already has and disables that card.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“Most popular” highlight:  </a:t>
            </a:r>
            <a:r>
              <a:rPr sz="1600" b="0">
                <a:solidFill>
                  <a:srgbClr val="5A546E"/>
                </a:solidFill>
                <a:latin typeface="Calibri"/>
              </a:rPr>
              <a:t>Pro is visually emphasized, matching standard SaaS pricing-page conventions.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12.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12 of 13</a:t>
            </a:r>
          </a:p>
        </p:txBody>
      </p:sp>
      <p:pic>
        <p:nvPicPr>
          <p:cNvPr id="6" name="Picture 5" descr="12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12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Profile and billing management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Profile panel:  </a:t>
            </a:r>
            <a:r>
              <a:rPr sz="1600" b="0">
                <a:solidFill>
                  <a:srgbClr val="5A546E"/>
                </a:solidFill>
                <a:latin typeface="Calibri"/>
              </a:rPr>
              <a:t>Name, email, role, timezone, and language at a glance.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Billing panel:  </a:t>
            </a:r>
            <a:r>
              <a:rPr sz="1600" b="0">
                <a:solidFill>
                  <a:srgbClr val="5A546E"/>
                </a:solidFill>
                <a:latin typeface="Calibri"/>
              </a:rPr>
              <a:t>Current plan, price, and live subscription status (Active / Canceled / Past Due).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Self-service actions:  </a:t>
            </a:r>
            <a:r>
              <a:rPr sz="1600" b="0">
                <a:solidFill>
                  <a:srgbClr val="5A546E"/>
                </a:solidFill>
                <a:latin typeface="Calibri"/>
              </a:rPr>
              <a:t>“Change plan” links to Pricing; “Cancel subscription” works immediately against the live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77240"/>
          </a:xfrm>
          <a:prstGeom prst="roundRect">
            <a:avLst>
              <a:gd name="adj" fmla="val 0"/>
            </a:avLst>
          </a:prstGeom>
          <a:solidFill>
            <a:srgbClr val="928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13. 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  <a:latin typeface="Calibri"/>
              </a:rPr>
              <a:t>Screen 13 of 13</a:t>
            </a:r>
          </a:p>
        </p:txBody>
      </p:sp>
      <p:pic>
        <p:nvPicPr>
          <p:cNvPr id="6" name="Picture 5" descr="13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9" y="960120"/>
            <a:ext cx="11056856" cy="5669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419" y="960120"/>
            <a:ext cx="11056856" cy="5669280"/>
          </a:xfrm>
          <a:prstGeom prst="rect">
            <a:avLst/>
          </a:prstGeom>
          <a:noFill/>
          <a:ln w="15875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B0A8C0"/>
                </a:solidFill>
                <a:latin typeface="Calibri"/>
              </a:rPr>
              <a:t>Screen 13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A3D"/>
                </a:solidFill>
                <a:latin typeface="Calibri"/>
              </a:rPr>
              <a:t>Admin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9283D9"/>
                </a:solidFill>
                <a:latin typeface="Calibri"/>
              </a:rPr>
              <a:t>Full platform oversight — a capability Memorae's own product does not expose publicly.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D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Role-gated:  </a:t>
            </a:r>
            <a:r>
              <a:rPr sz="1600" b="0">
                <a:solidFill>
                  <a:srgbClr val="5A546E"/>
                </a:solidFill>
                <a:latin typeface="Calibri"/>
              </a:rPr>
              <a:t>Guarded end-to-end by a real UserRole (USER/ADMIN) and a global RolesGuard — not just hidden UI.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Platform stats:  </a:t>
            </a:r>
            <a:r>
              <a:rPr sz="1600" b="0">
                <a:solidFill>
                  <a:srgbClr val="5A546E"/>
                </a:solidFill>
                <a:latin typeface="Calibri"/>
              </a:rPr>
              <a:t>Total users, active subscriptions, and aggregate memories/tasks/reminders across the whole system.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Full user table:  </a:t>
            </a:r>
            <a:r>
              <a:rPr sz="1600" b="0">
                <a:solidFill>
                  <a:srgbClr val="5A546E"/>
                </a:solidFill>
                <a:latin typeface="Calibri"/>
              </a:rPr>
              <a:t>Every user's plan, role, and usage counts in one sortable view.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SaaS-readiness signal:  </a:t>
            </a:r>
            <a:r>
              <a:rPr sz="1600" b="0">
                <a:solidFill>
                  <a:srgbClr val="5A546E"/>
                </a:solidFill>
                <a:latin typeface="Calibri"/>
              </a:rPr>
              <a:t>Demonstrates Anchor is built as an operable business, not just a consumer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9283D9"/>
              </a:gs>
              <a:gs pos="50000">
                <a:srgbClr val="DC8CC5"/>
              </a:gs>
              <a:gs pos="100000">
                <a:srgbClr val="FCAD96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82880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Anchor vs. Memorae.ai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A direct, honest feature comparison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D2A3D"/>
                </a:solidFill>
                <a:latin typeface="Calibri"/>
              </a:rPr>
              <a:t>Feature Comparison (1 of 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928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Memorae.ai</a:t>
                      </a:r>
                    </a:p>
                  </a:txBody>
                  <a:tcPr>
                    <a:solidFill>
                      <a:srgbClr val="928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Anchor</a:t>
                      </a:r>
                    </a:p>
                  </a:txBody>
                  <a:tcPr>
                    <a:solidFill>
                      <a:srgbClr val="9283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WhatsApp / Telegram / Email / Voice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Photo capture (description + OCR)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One-off &amp; recurring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Reminder delivery back to chat channels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"Remind me to..." message → real scheduled 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Lists (shopping / to-do / ideas)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Notes / memory capture, search &amp; tagging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Google &amp; Outlook calendar sync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Apple / iCloud calendar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03B3B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D2A3D"/>
                </a:solidFill>
                <a:latin typeface="Calibri"/>
              </a:rPr>
              <a:t>Feature Comparison (2 of 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928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Memorae.ai</a:t>
                      </a:r>
                    </a:p>
                  </a:txBody>
                  <a:tcPr>
                    <a:solidFill>
                      <a:srgbClr val="928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Anchor</a:t>
                      </a:r>
                    </a:p>
                  </a:txBody>
                  <a:tcPr>
                    <a:solidFill>
                      <a:srgbClr val="9283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Daily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Weekly briefing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Conversational AI chat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Web dashboard unifying everything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"Share with friends" / collaboration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 (reported buggy)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03B3B"/>
                          </a:solidFill>
                        </a:defRPr>
                      </a:pPr>
                      <a:r>
                        <a:t>✗ (not built yet)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Role-based Admin panel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A546E"/>
                          </a:solidFill>
                        </a:defRPr>
                      </a:pPr>
                      <a:r>
                        <a:t>Not public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Paid subscription tiers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 (3 tiers)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 (3 tiers, no free tier)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Own distinct brand identity &amp; mascot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A3D"/>
                          </a:solidFill>
                        </a:defRPr>
                      </a:pPr>
                      <a:r>
                        <a:t>Stripe billing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9E5B"/>
                          </a:solidFill>
                        </a:defRPr>
                      </a:pPr>
                      <a:r>
                        <a:t>✓ (built, demo mode until merchant account)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A546E"/>
                </a:solidFill>
                <a:latin typeface="Calibri"/>
              </a:rPr>
              <a:t>✓ = present   ✗ = not yet built. Gaps are stated honestly rather than glossed over.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D2A3D"/>
                </a:solidFill>
                <a:latin typeface="Calibri"/>
              </a:rPr>
              <a:t>Where Anchor Differentiates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Operable as a business, not just a product:  </a:t>
            </a:r>
            <a:r>
              <a:rPr sz="1600" b="0">
                <a:solidFill>
                  <a:srgbClr val="5A546E"/>
                </a:solidFill>
                <a:latin typeface="Calibri"/>
              </a:rPr>
              <a:t>A real role-based Admin panel with platform-wide stats and user oversight — Memorae does not expose this.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Own visual identity end-to-end:  </a:t>
            </a:r>
            <a:r>
              <a:rPr sz="1600" b="0">
                <a:solidFill>
                  <a:srgbClr val="5A546E"/>
                </a:solidFill>
                <a:latin typeface="Calibri"/>
              </a:rPr>
              <a:t>A custom 7-color pastel palette and an original mascot, applied consistently across marketing site, app, and chat — not a clone of Memorae's look.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Reminder pipeline built for reliability:  </a:t>
            </a:r>
            <a:r>
              <a:rPr sz="1600" b="0">
                <a:solidFill>
                  <a:srgbClr val="5A546E"/>
                </a:solidFill>
                <a:latin typeface="Calibri"/>
              </a:rPr>
              <a:t>A dedicated cron-driven delivery service with recurrence math, separate from the task system, so “remind me” never gets silently downgraded to a to-do.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Billing built ahead of the merchant account:  </a:t>
            </a:r>
            <a:r>
              <a:rPr sz="1600" b="0">
                <a:solidFill>
                  <a:srgbClr val="5A546E"/>
                </a:solidFill>
                <a:latin typeface="Calibri"/>
              </a:rPr>
              <a:t>The entire Stripe checkout/webhook/subscription lifecycle is implemented now, running in demo mode, so going live later is a config change, not a rebuild.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9283D9"/>
                </a:solidFill>
                <a:latin typeface="Calibri"/>
              </a:rPr>
              <a:t>•  </a:t>
            </a:r>
            <a:r>
              <a:rPr sz="1600" b="1">
                <a:solidFill>
                  <a:srgbClr val="2D2A3D"/>
                </a:solidFill>
                <a:latin typeface="Calibri"/>
              </a:rPr>
              <a:t>Honesty over polish:  </a:t>
            </a:r>
            <a:r>
              <a:rPr sz="1600" b="0">
                <a:solidFill>
                  <a:srgbClr val="5A546E"/>
                </a:solidFill>
                <a:latin typeface="Calibri"/>
              </a:rPr>
              <a:t>Known gaps (Apple Calendar, sharing/collaboration) are tracked and stated plainly rather than hidden behind vague marketing copy.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0 / 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26440" cy="32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4808" y="292608"/>
            <a:ext cx="228600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9283D9"/>
                </a:solidFill>
                <a:latin typeface="Calibri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D2A3D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700" b="1">
                <a:solidFill>
                  <a:srgbClr val="9283D9"/>
                </a:solidFill>
                <a:latin typeface="Calibri"/>
              </a:rPr>
              <a:t>•  </a:t>
            </a:r>
            <a:r>
              <a:rPr sz="1700" b="1">
                <a:solidFill>
                  <a:srgbClr val="2D2A3D"/>
                </a:solidFill>
                <a:latin typeface="Calibri"/>
              </a:rPr>
              <a:t>Connect a live Stripe merchant account  </a:t>
            </a:r>
            <a:r>
              <a:rPr sz="1700" b="0">
                <a:solidFill>
                  <a:srgbClr val="5A546E"/>
                </a:solidFill>
                <a:latin typeface="Calibri"/>
              </a:rPr>
              <a:t>flips billing from demo mode to real payments with no code changes required.</a:t>
            </a:r>
          </a:p>
          <a:p>
            <a:pPr>
              <a:spcAft>
                <a:spcPts val="2000"/>
              </a:spcAft>
            </a:pPr>
            <a:r>
              <a:rPr sz="1700" b="1">
                <a:solidFill>
                  <a:srgbClr val="9283D9"/>
                </a:solidFill>
                <a:latin typeface="Calibri"/>
              </a:rPr>
              <a:t>•  </a:t>
            </a:r>
            <a:r>
              <a:rPr sz="1700" b="1">
                <a:solidFill>
                  <a:srgbClr val="2D2A3D"/>
                </a:solidFill>
                <a:latin typeface="Calibri"/>
              </a:rPr>
              <a:t>Apple / iCloud calendar sync  </a:t>
            </a:r>
            <a:r>
              <a:rPr sz="1700" b="0">
                <a:solidFill>
                  <a:srgbClr val="5A546E"/>
                </a:solidFill>
                <a:latin typeface="Calibri"/>
              </a:rPr>
              <a:t>close the last calendar gap versus Memorae.</a:t>
            </a:r>
          </a:p>
          <a:p>
            <a:pPr>
              <a:spcAft>
                <a:spcPts val="2000"/>
              </a:spcAft>
            </a:pPr>
            <a:r>
              <a:rPr sz="1700" b="1">
                <a:solidFill>
                  <a:srgbClr val="9283D9"/>
                </a:solidFill>
                <a:latin typeface="Calibri"/>
              </a:rPr>
              <a:t>•  </a:t>
            </a:r>
            <a:r>
              <a:rPr sz="1700" b="1">
                <a:solidFill>
                  <a:srgbClr val="2D2A3D"/>
                </a:solidFill>
                <a:latin typeface="Calibri"/>
              </a:rPr>
              <a:t>Sharing &amp; collaboration  </a:t>
            </a:r>
            <a:r>
              <a:rPr sz="1700" b="0">
                <a:solidFill>
                  <a:srgbClr val="5A546E"/>
                </a:solidFill>
                <a:latin typeface="Calibri"/>
              </a:rPr>
              <a:t>let users send reminders or lists to another person.</a:t>
            </a:r>
          </a:p>
          <a:p>
            <a:pPr>
              <a:spcAft>
                <a:spcPts val="2000"/>
              </a:spcAft>
            </a:pPr>
            <a:r>
              <a:rPr sz="1700" b="1">
                <a:solidFill>
                  <a:srgbClr val="9283D9"/>
                </a:solidFill>
                <a:latin typeface="Calibri"/>
              </a:rPr>
              <a:t>•  </a:t>
            </a:r>
            <a:r>
              <a:rPr sz="1700" b="1">
                <a:solidFill>
                  <a:srgbClr val="2D2A3D"/>
                </a:solidFill>
                <a:latin typeface="Calibri"/>
              </a:rPr>
              <a:t>Mobile app  </a:t>
            </a:r>
            <a:r>
              <a:rPr sz="1700" b="0">
                <a:solidFill>
                  <a:srgbClr val="5A546E"/>
                </a:solidFill>
                <a:latin typeface="Calibri"/>
              </a:rPr>
              <a:t>an Expo/React Native client already scaffolded in the monorepo, ready to build out.</a:t>
            </a:r>
          </a:p>
          <a:p>
            <a:pPr>
              <a:spcAft>
                <a:spcPts val="2000"/>
              </a:spcAft>
            </a:pPr>
            <a:r>
              <a:rPr sz="1700" b="1">
                <a:solidFill>
                  <a:srgbClr val="9283D9"/>
                </a:solidFill>
                <a:latin typeface="Calibri"/>
              </a:rPr>
              <a:t>•  </a:t>
            </a:r>
            <a:r>
              <a:rPr sz="1700" b="1">
                <a:solidFill>
                  <a:srgbClr val="2D2A3D"/>
                </a:solidFill>
                <a:latin typeface="Calibri"/>
              </a:rPr>
              <a:t>Production database  </a:t>
            </a:r>
            <a:r>
              <a:rPr sz="1700" b="0">
                <a:solidFill>
                  <a:srgbClr val="5A546E"/>
                </a:solidFill>
                <a:latin typeface="Calibri"/>
              </a:rPr>
              <a:t>move off the local dev Postgres instance onto a managed, backed-up production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0A8C0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B0A8C0"/>
                </a:solidFill>
                <a:latin typeface="Calibri"/>
              </a:rPr>
              <a:t>0 / 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F5CAA2"/>
              </a:gs>
              <a:gs pos="35000">
                <a:srgbClr val="FCAD96"/>
              </a:gs>
              <a:gs pos="70000">
                <a:srgbClr val="DC8CC5"/>
              </a:gs>
              <a:gs pos="100000">
                <a:srgbClr val="AC84CC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cot-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202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2044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Anchor — the memory layer that actually remembers.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